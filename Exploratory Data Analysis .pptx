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0" r:id="rId4"/>
    <p:sldId id="268" r:id="rId5"/>
    <p:sldId id="271" r:id="rId6"/>
    <p:sldId id="274" r:id="rId7"/>
    <p:sldId id="272" r:id="rId8"/>
    <p:sldId id="278" r:id="rId9"/>
    <p:sldId id="273" r:id="rId10"/>
    <p:sldId id="280" r:id="rId11"/>
    <p:sldId id="275" r:id="rId12"/>
    <p:sldId id="276" r:id="rId13"/>
    <p:sldId id="282" r:id="rId14"/>
    <p:sldId id="277" r:id="rId15"/>
    <p:sldId id="279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A850055-7B04-477A-8554-6471D03105F3}">
          <p14:sldIdLst>
            <p14:sldId id="256"/>
            <p14:sldId id="257"/>
            <p14:sldId id="260"/>
            <p14:sldId id="268"/>
            <p14:sldId id="271"/>
            <p14:sldId id="274"/>
            <p14:sldId id="272"/>
            <p14:sldId id="278"/>
            <p14:sldId id="273"/>
            <p14:sldId id="280"/>
            <p14:sldId id="275"/>
            <p14:sldId id="276"/>
            <p14:sldId id="282"/>
            <p14:sldId id="277"/>
            <p14:sldId id="279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35" autoAdjust="0"/>
    <p:restoredTop sz="94660"/>
  </p:normalViewPr>
  <p:slideViewPr>
    <p:cSldViewPr snapToGrid="0">
      <p:cViewPr>
        <p:scale>
          <a:sx n="66" d="100"/>
          <a:sy n="66" d="100"/>
        </p:scale>
        <p:origin x="97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AB99-9E2F-472B-A02D-0B1F504CBBB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F704-19F5-4AFE-BC9C-4CF2304DD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61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AB99-9E2F-472B-A02D-0B1F504CBBB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25E1F704-19F5-4AFE-BC9C-4CF2304DD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35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AB99-9E2F-472B-A02D-0B1F504CBBB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F704-19F5-4AFE-BC9C-4CF2304DD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0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AB99-9E2F-472B-A02D-0B1F504CBBB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F704-19F5-4AFE-BC9C-4CF2304DD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99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AB99-9E2F-472B-A02D-0B1F504CBBB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F704-19F5-4AFE-BC9C-4CF2304DD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5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AB99-9E2F-472B-A02D-0B1F504CBBB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F704-19F5-4AFE-BC9C-4CF2304DD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133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AB99-9E2F-472B-A02D-0B1F504CBBB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F704-19F5-4AFE-BC9C-4CF2304DD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630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AB99-9E2F-472B-A02D-0B1F504CBBB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F704-19F5-4AFE-BC9C-4CF2304DD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11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AB99-9E2F-472B-A02D-0B1F504CBBB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F704-19F5-4AFE-BC9C-4CF2304DD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37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AB99-9E2F-472B-A02D-0B1F504CBBB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F704-19F5-4AFE-BC9C-4CF2304DD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873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AB99-9E2F-472B-A02D-0B1F504CBBB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F704-19F5-4AFE-BC9C-4CF2304DD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29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AB99-9E2F-472B-A02D-0B1F504CBBB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F704-19F5-4AFE-BC9C-4CF2304DD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032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AB99-9E2F-472B-A02D-0B1F504CBBB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F704-19F5-4AFE-BC9C-4CF2304DD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047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AB99-9E2F-472B-A02D-0B1F504CBBB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F704-19F5-4AFE-BC9C-4CF2304DD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8105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AB99-9E2F-472B-A02D-0B1F504CBBB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F704-19F5-4AFE-BC9C-4CF2304DD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123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AB99-9E2F-472B-A02D-0B1F504CBBB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F704-19F5-4AFE-BC9C-4CF2304DD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763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AB99-9E2F-472B-A02D-0B1F504CBBB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F704-19F5-4AFE-BC9C-4CF2304DD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68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35DAB99-9E2F-472B-A02D-0B1F504CBBB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5E1F704-19F5-4AFE-BC9C-4CF2304DD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803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2824" y="1149531"/>
            <a:ext cx="8574622" cy="1305318"/>
          </a:xfrm>
        </p:spPr>
        <p:txBody>
          <a:bodyPr>
            <a:noAutofit/>
          </a:bodyPr>
          <a:lstStyle/>
          <a:p>
            <a:pPr algn="ctr"/>
            <a:r>
              <a:rPr lang="en-US" sz="4000" b="1" u="sng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Exploratory Data Analysis (EDA) for Real Estate </a:t>
            </a:r>
            <a:r>
              <a:rPr lang="en-US" sz="4000" b="1" u="sng" dirty="0" smtClean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Pricing</a:t>
            </a:r>
            <a:endParaRPr lang="en-US" sz="4000" b="1" u="sng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3932" y="3277808"/>
            <a:ext cx="9638068" cy="1388534"/>
          </a:xfrm>
        </p:spPr>
        <p:txBody>
          <a:bodyPr>
            <a:noAutofit/>
          </a:bodyPr>
          <a:lstStyle/>
          <a:p>
            <a:pPr algn="l"/>
            <a:r>
              <a:rPr lang="en-US" sz="4400" dirty="0" smtClean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Organization : NextHikes IT Solutions</a:t>
            </a:r>
          </a:p>
          <a:p>
            <a:pPr algn="l"/>
            <a:endParaRPr lang="en-US" sz="4400" dirty="0" smtClean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                                  Presented By : Ankita Babar</a:t>
            </a:r>
            <a:endParaRPr lang="en-US" sz="2800" dirty="0">
              <a:solidFill>
                <a:schemeClr val="accent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46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9272" y="600891"/>
            <a:ext cx="3557952" cy="1354182"/>
          </a:xfrm>
        </p:spPr>
        <p:txBody>
          <a:bodyPr/>
          <a:lstStyle/>
          <a:p>
            <a:r>
              <a:rPr lang="en-US" u="sng" dirty="0" smtClean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 -</a:t>
            </a:r>
            <a:endParaRPr lang="en-US" u="sng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247532" y="1955073"/>
            <a:ext cx="960391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2060"/>
              </a:buClr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The real estate market is highly dynamic, and house </a:t>
            </a:r>
            <a:endParaRPr lang="en-US" dirty="0" smtClean="0">
              <a:solidFill>
                <a:srgbClr val="00206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2060"/>
              </a:buClr>
              <a:buSzTx/>
              <a:buNone/>
            </a:pPr>
            <a:r>
              <a:rPr lang="en-US" dirty="0" smtClean="0">
                <a:solidFill>
                  <a:srgbClr val="002060"/>
                </a:solidFill>
              </a:rPr>
              <a:t>prices </a:t>
            </a:r>
            <a:r>
              <a:rPr lang="en-US" dirty="0">
                <a:solidFill>
                  <a:srgbClr val="002060"/>
                </a:solidFill>
              </a:rPr>
              <a:t>are influenced by several factors such as location</a:t>
            </a:r>
            <a:r>
              <a:rPr lang="en-US" dirty="0" smtClean="0">
                <a:solidFill>
                  <a:srgbClr val="002060"/>
                </a:solidFill>
              </a:rPr>
              <a:t>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2060"/>
              </a:buClr>
              <a:buSzTx/>
              <a:buNone/>
            </a:pP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size, quality, and available amenities</a:t>
            </a:r>
            <a:r>
              <a:rPr lang="en-US" dirty="0" smtClean="0">
                <a:solidFill>
                  <a:srgbClr val="002060"/>
                </a:solidFill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2060"/>
              </a:buClr>
              <a:buSzTx/>
            </a:pPr>
            <a:r>
              <a:rPr lang="en-US" dirty="0">
                <a:solidFill>
                  <a:srgbClr val="002060"/>
                </a:solidFill>
              </a:rPr>
              <a:t>Understanding how these factors affect property prices </a:t>
            </a:r>
            <a:r>
              <a:rPr lang="en-US" dirty="0" smtClean="0">
                <a:solidFill>
                  <a:srgbClr val="002060"/>
                </a:solidFill>
              </a:rPr>
              <a:t>is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2060"/>
              </a:buClr>
              <a:buSzTx/>
              <a:buNone/>
            </a:pP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essential for making informed business and investment decisions</a:t>
            </a:r>
            <a:r>
              <a:rPr lang="en-US" dirty="0" smtClean="0">
                <a:solidFill>
                  <a:srgbClr val="002060"/>
                </a:solidFill>
              </a:rPr>
              <a:t>.</a:t>
            </a:r>
            <a:endParaRPr lang="en-US" dirty="0">
              <a:solidFill>
                <a:srgbClr val="00206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2060"/>
              </a:buClr>
              <a:buSzTx/>
              <a:buNone/>
            </a:pPr>
            <a:r>
              <a:rPr lang="en-US" dirty="0">
                <a:solidFill>
                  <a:srgbClr val="002060"/>
                </a:solidFill>
              </a:rPr>
              <a:t>This project uses Exploratory Data Analysis (EDA) techniques </a:t>
            </a:r>
            <a:r>
              <a:rPr lang="en-US" dirty="0" smtClean="0">
                <a:solidFill>
                  <a:srgbClr val="002060"/>
                </a:solidFill>
              </a:rPr>
              <a:t>to study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2060"/>
              </a:buClr>
              <a:buSzTx/>
              <a:buNone/>
            </a:pPr>
            <a:r>
              <a:rPr lang="en-US" dirty="0" smtClean="0">
                <a:solidFill>
                  <a:srgbClr val="002060"/>
                </a:solidFill>
              </a:rPr>
              <a:t>housing </a:t>
            </a:r>
            <a:r>
              <a:rPr lang="en-US" dirty="0">
                <a:solidFill>
                  <a:srgbClr val="002060"/>
                </a:solidFill>
              </a:rPr>
              <a:t>data and identify the key variables that impact house prices</a:t>
            </a:r>
            <a:r>
              <a:rPr lang="en-US" dirty="0" smtClean="0">
                <a:solidFill>
                  <a:srgbClr val="002060"/>
                </a:solidFill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2060"/>
              </a:buClr>
              <a:buSzTx/>
            </a:pPr>
            <a:r>
              <a:rPr lang="en-US" dirty="0">
                <a:solidFill>
                  <a:srgbClr val="002060"/>
                </a:solidFill>
              </a:rPr>
              <a:t> Through data visualization and statistical </a:t>
            </a:r>
            <a:r>
              <a:rPr lang="en-US" dirty="0" smtClean="0">
                <a:solidFill>
                  <a:srgbClr val="002060"/>
                </a:solidFill>
              </a:rPr>
              <a:t>analysis.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2060"/>
              </a:buClr>
              <a:buSzTx/>
            </a:pPr>
            <a:r>
              <a:rPr lang="en-US" dirty="0">
                <a:solidFill>
                  <a:srgbClr val="002060"/>
                </a:solidFill>
              </a:rPr>
              <a:t>the project aims to uncover patterns, trends, and relationships that help </a:t>
            </a:r>
            <a:endParaRPr lang="en-US" dirty="0" smtClean="0">
              <a:solidFill>
                <a:srgbClr val="002060"/>
              </a:solidFill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2060"/>
              </a:buClr>
              <a:buSzTx/>
            </a:pPr>
            <a:r>
              <a:rPr lang="en-US" dirty="0" smtClean="0">
                <a:solidFill>
                  <a:srgbClr val="002060"/>
                </a:solidFill>
              </a:rPr>
              <a:t>explain </a:t>
            </a:r>
            <a:r>
              <a:rPr lang="en-US" dirty="0">
                <a:solidFill>
                  <a:srgbClr val="002060"/>
                </a:solidFill>
              </a:rPr>
              <a:t>price variations in the real estate market.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2060"/>
              </a:buClr>
              <a:buSzTx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572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4115" y="1045029"/>
            <a:ext cx="7832360" cy="704427"/>
          </a:xfrm>
        </p:spPr>
        <p:txBody>
          <a:bodyPr>
            <a:normAutofit fontScale="90000"/>
          </a:bodyPr>
          <a:lstStyle/>
          <a:p>
            <a:r>
              <a:rPr lang="en-US" sz="4000" u="sng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Challenges Faced During the </a:t>
            </a:r>
            <a:r>
              <a:rPr lang="en-US" sz="4000" u="sng" dirty="0" smtClean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Project -</a:t>
            </a:r>
            <a:endParaRPr lang="en-US" sz="4000" u="sng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2029" y="2168434"/>
            <a:ext cx="5477708" cy="3346995"/>
          </a:xfrm>
        </p:spPr>
        <p:txBody>
          <a:bodyPr>
            <a:normAutofit/>
          </a:bodyPr>
          <a:lstStyle/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Presence of many missing values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Mixed numerical and categorical data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Outliers affecting data distribution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Large dataset causing slow </a:t>
            </a:r>
            <a:r>
              <a:rPr lang="en-US" sz="2400" dirty="0" smtClean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processing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Errors while plotting graphs</a:t>
            </a:r>
          </a:p>
        </p:txBody>
      </p:sp>
    </p:spTree>
    <p:extLst>
      <p:ext uri="{BB962C8B-B14F-4D97-AF65-F5344CB8AC3E}">
        <p14:creationId xmlns:p14="http://schemas.microsoft.com/office/powerpoint/2010/main" val="3407837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1679" y="1110343"/>
            <a:ext cx="5742303" cy="913433"/>
          </a:xfrm>
        </p:spPr>
        <p:txBody>
          <a:bodyPr>
            <a:normAutofit/>
          </a:bodyPr>
          <a:lstStyle/>
          <a:p>
            <a:r>
              <a:rPr lang="en-US" sz="4000" u="sng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 I Overcame </a:t>
            </a:r>
            <a:r>
              <a:rPr lang="en-US" sz="4000" u="sng" dirty="0" smtClean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Them:-</a:t>
            </a:r>
            <a:endParaRPr lang="en-US" sz="4000" u="sng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4899" y="2782389"/>
            <a:ext cx="6987645" cy="2155372"/>
          </a:xfrm>
        </p:spPr>
        <p:txBody>
          <a:bodyPr>
            <a:normAutofit fontScale="77500" lnSpcReduction="20000"/>
          </a:bodyPr>
          <a:lstStyle/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2060"/>
                </a:solidFill>
                <a:latin typeface="Soege UI"/>
                <a:cs typeface="Segoe UI" panose="020B0502040204020203" pitchFamily="34" charset="0"/>
              </a:rPr>
              <a:t>  Used </a:t>
            </a:r>
            <a:r>
              <a:rPr lang="en-US" sz="2800" dirty="0">
                <a:solidFill>
                  <a:srgbClr val="002060"/>
                </a:solidFill>
                <a:latin typeface="Soege UI"/>
                <a:cs typeface="Segoe UI" panose="020B0502040204020203" pitchFamily="34" charset="0"/>
              </a:rPr>
              <a:t>median/mode for missing </a:t>
            </a:r>
            <a:r>
              <a:rPr lang="en-US" sz="2800" dirty="0" smtClean="0">
                <a:solidFill>
                  <a:srgbClr val="002060"/>
                </a:solidFill>
                <a:latin typeface="Soege UI"/>
                <a:cs typeface="Segoe UI" panose="020B0502040204020203" pitchFamily="34" charset="0"/>
              </a:rPr>
              <a:t>values</a:t>
            </a:r>
            <a:endParaRPr lang="en-US" sz="2800" dirty="0">
              <a:solidFill>
                <a:srgbClr val="002060"/>
              </a:solidFill>
              <a:latin typeface="Soege UI"/>
              <a:cs typeface="Segoe UI" panose="020B0502040204020203" pitchFamily="34" charset="0"/>
            </a:endParaRP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2060"/>
                </a:solidFill>
                <a:latin typeface="Soege UI"/>
                <a:cs typeface="Segoe UI" panose="020B0502040204020203" pitchFamily="34" charset="0"/>
              </a:rPr>
              <a:t>  Fixed </a:t>
            </a:r>
            <a:r>
              <a:rPr lang="en-US" sz="2800" dirty="0">
                <a:solidFill>
                  <a:srgbClr val="002060"/>
                </a:solidFill>
                <a:latin typeface="Soege UI"/>
                <a:cs typeface="Segoe UI" panose="020B0502040204020203" pitchFamily="34" charset="0"/>
              </a:rPr>
              <a:t>library and datatype </a:t>
            </a:r>
            <a:r>
              <a:rPr lang="en-US" sz="2800" dirty="0" smtClean="0">
                <a:solidFill>
                  <a:srgbClr val="002060"/>
                </a:solidFill>
                <a:latin typeface="Soege UI"/>
                <a:cs typeface="Segoe UI" panose="020B0502040204020203" pitchFamily="34" charset="0"/>
              </a:rPr>
              <a:t>issues</a:t>
            </a:r>
          </a:p>
          <a:p>
            <a:pPr marL="457200" indent="-4572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2060"/>
                </a:solidFill>
                <a:latin typeface="Soege UI"/>
              </a:rPr>
              <a:t> Filtered </a:t>
            </a:r>
            <a:r>
              <a:rPr lang="en-US" sz="2800" dirty="0">
                <a:solidFill>
                  <a:srgbClr val="002060"/>
                </a:solidFill>
                <a:latin typeface="Soege UI"/>
              </a:rPr>
              <a:t>numerical columns for correlation analysis</a:t>
            </a:r>
          </a:p>
          <a:p>
            <a:pPr marL="457200" indent="-4572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2060"/>
                </a:solidFill>
                <a:latin typeface="Soege UI"/>
              </a:rPr>
              <a:t> Detected </a:t>
            </a:r>
            <a:r>
              <a:rPr lang="en-US" sz="2800" dirty="0">
                <a:solidFill>
                  <a:srgbClr val="002060"/>
                </a:solidFill>
                <a:latin typeface="Soege UI"/>
              </a:rPr>
              <a:t>outliers using IQR and boxplots</a:t>
            </a:r>
          </a:p>
          <a:p>
            <a:pPr marL="457200" indent="-4572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2060"/>
                </a:solidFill>
                <a:latin typeface="Soege UI"/>
              </a:rPr>
              <a:t> Performed </a:t>
            </a:r>
            <a:r>
              <a:rPr lang="en-US" sz="2800" dirty="0">
                <a:solidFill>
                  <a:srgbClr val="002060"/>
                </a:solidFill>
                <a:latin typeface="Soege UI"/>
              </a:rPr>
              <a:t>step-by-step analysis to avoid errors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2060"/>
              </a:solidFill>
              <a:latin typeface="Soege UI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32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5319" y="577669"/>
            <a:ext cx="5426158" cy="733696"/>
          </a:xfrm>
        </p:spPr>
        <p:txBody>
          <a:bodyPr>
            <a:normAutofit/>
          </a:bodyPr>
          <a:lstStyle/>
          <a:p>
            <a:r>
              <a:rPr lang="en-US" sz="4000" u="sng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Univariate </a:t>
            </a:r>
            <a:r>
              <a:rPr lang="en-US" sz="4000" u="sng" dirty="0" smtClean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Analysis :-</a:t>
            </a:r>
            <a:endParaRPr lang="en-US" sz="4000" u="sng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6" b="-76"/>
          <a:stretch/>
        </p:blipFill>
        <p:spPr>
          <a:xfrm>
            <a:off x="6226628" y="1804851"/>
            <a:ext cx="5820229" cy="41751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63047" y="1993900"/>
            <a:ext cx="5063581" cy="3479799"/>
          </a:xfrm>
        </p:spPr>
        <p:txBody>
          <a:bodyPr>
            <a:noAutofit/>
          </a:bodyPr>
          <a:lstStyle/>
          <a:p>
            <a:pPr algn="l">
              <a:buClr>
                <a:srgbClr val="002060"/>
              </a:buClr>
            </a:pPr>
            <a:r>
              <a:rPr lang="en-US" sz="2400" u="sng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Insights: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 </a:t>
            </a: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prices are right-skewed, meaning most houses fall in a lower price range.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US" sz="2000" dirty="0" smtClean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Few </a:t>
            </a: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houses have very high prices, indicating premium or luxury properties.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US" sz="2000" dirty="0" smtClean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Presence </a:t>
            </a: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extreme values suggests potential outliers.</a:t>
            </a:r>
          </a:p>
        </p:txBody>
      </p:sp>
    </p:spTree>
    <p:extLst>
      <p:ext uri="{BB962C8B-B14F-4D97-AF65-F5344CB8AC3E}">
        <p14:creationId xmlns:p14="http://schemas.microsoft.com/office/powerpoint/2010/main" val="1648885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724" y="812799"/>
            <a:ext cx="5426158" cy="850899"/>
          </a:xfrm>
        </p:spPr>
        <p:txBody>
          <a:bodyPr>
            <a:normAutofit/>
          </a:bodyPr>
          <a:lstStyle/>
          <a:p>
            <a:r>
              <a:rPr lang="en-US" sz="4000" u="sng" dirty="0" smtClean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Univariate Analysis :-</a:t>
            </a:r>
            <a:endParaRPr lang="en-US" sz="4000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82" y="2159000"/>
            <a:ext cx="5308600" cy="35415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8724" y="2159000"/>
            <a:ext cx="5426158" cy="2908300"/>
          </a:xfrm>
        </p:spPr>
        <p:txBody>
          <a:bodyPr>
            <a:normAutofit/>
          </a:bodyPr>
          <a:lstStyle/>
          <a:p>
            <a:pPr algn="l">
              <a:buClr>
                <a:srgbClr val="002060"/>
              </a:buClr>
            </a:pPr>
            <a:r>
              <a:rPr lang="en-US" sz="2000" u="sng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Insights:</a:t>
            </a:r>
          </a:p>
          <a:p>
            <a:pPr marL="285750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Most </a:t>
            </a: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houses have moderate living area.</a:t>
            </a:r>
          </a:p>
          <a:p>
            <a:pPr marL="285750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Very </a:t>
            </a: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large houses are rare (outliers).</a:t>
            </a:r>
          </a:p>
          <a:p>
            <a:pPr marL="285750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Larger </a:t>
            </a: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living area increases property value.</a:t>
            </a:r>
          </a:p>
        </p:txBody>
      </p:sp>
    </p:spTree>
    <p:extLst>
      <p:ext uri="{BB962C8B-B14F-4D97-AF65-F5344CB8AC3E}">
        <p14:creationId xmlns:p14="http://schemas.microsoft.com/office/powerpoint/2010/main" val="1147893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4124" y="1003300"/>
            <a:ext cx="5426158" cy="749299"/>
          </a:xfrm>
        </p:spPr>
        <p:txBody>
          <a:bodyPr>
            <a:normAutofit/>
          </a:bodyPr>
          <a:lstStyle/>
          <a:p>
            <a:r>
              <a:rPr lang="en-US" sz="4000" u="sng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Bivariate Analysis </a:t>
            </a:r>
            <a:r>
              <a:rPr lang="en-US" sz="4000" u="sng" dirty="0" smtClean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:-</a:t>
            </a:r>
            <a:endParaRPr lang="en-US" sz="4000" u="sng" dirty="0">
              <a:solidFill>
                <a:srgbClr val="0020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281" y="1306287"/>
            <a:ext cx="5311421" cy="41129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4124" y="2292349"/>
            <a:ext cx="5426158" cy="2412999"/>
          </a:xfrm>
        </p:spPr>
        <p:txBody>
          <a:bodyPr>
            <a:noAutofit/>
          </a:bodyPr>
          <a:lstStyle/>
          <a:p>
            <a:pPr algn="l">
              <a:buClr>
                <a:srgbClr val="002060"/>
              </a:buClr>
            </a:pPr>
            <a:r>
              <a:rPr lang="en-US" sz="2000" u="sng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Insights</a:t>
            </a:r>
            <a:r>
              <a:rPr lang="en-US" sz="2000" u="sng" dirty="0" smtClean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:-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 </a:t>
            </a: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price increases sharply with quality.</a:t>
            </a:r>
          </a:p>
          <a:p>
            <a:pPr marL="285750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Quality </a:t>
            </a: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 one of the strongest price drivers.</a:t>
            </a:r>
          </a:p>
          <a:p>
            <a:pPr marL="285750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Premium </a:t>
            </a:r>
            <a:r>
              <a:rPr lang="en-US" sz="20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houses show higher price variation.</a:t>
            </a:r>
          </a:p>
        </p:txBody>
      </p:sp>
    </p:spTree>
    <p:extLst>
      <p:ext uri="{BB962C8B-B14F-4D97-AF65-F5344CB8AC3E}">
        <p14:creationId xmlns:p14="http://schemas.microsoft.com/office/powerpoint/2010/main" val="48298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0403" y="457199"/>
            <a:ext cx="5439221" cy="796835"/>
          </a:xfrm>
        </p:spPr>
        <p:txBody>
          <a:bodyPr>
            <a:normAutofit/>
          </a:bodyPr>
          <a:lstStyle/>
          <a:p>
            <a:r>
              <a:rPr lang="en-US" sz="3600" u="sng" dirty="0" smtClean="0">
                <a:solidFill>
                  <a:srgbClr val="002060"/>
                </a:solidFill>
                <a:latin typeface="Soege UI"/>
              </a:rPr>
              <a:t>Multivariate Analysis :- </a:t>
            </a:r>
            <a:endParaRPr lang="en-US" sz="3600" u="sng" dirty="0">
              <a:solidFill>
                <a:srgbClr val="002060"/>
              </a:solidFill>
              <a:latin typeface="Soege UI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39" b="-939"/>
          <a:stretch/>
        </p:blipFill>
        <p:spPr>
          <a:xfrm>
            <a:off x="6622869" y="1361737"/>
            <a:ext cx="5394960" cy="41867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6711" y="1998617"/>
            <a:ext cx="5426158" cy="4598126"/>
          </a:xfrm>
        </p:spPr>
        <p:txBody>
          <a:bodyPr>
            <a:noAutofit/>
          </a:bodyPr>
          <a:lstStyle/>
          <a:p>
            <a:pPr algn="l">
              <a:buClr>
                <a:srgbClr val="002060"/>
              </a:buClr>
            </a:pPr>
            <a:r>
              <a:rPr lang="en-US" sz="2000" b="1" dirty="0">
                <a:solidFill>
                  <a:srgbClr val="002060"/>
                </a:solidFill>
                <a:latin typeface="Soege UI"/>
              </a:rPr>
              <a:t>OverallQual + GrLivArea + SalePrice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Soege UI"/>
              </a:rPr>
              <a:t>Best price prediction </a:t>
            </a:r>
            <a:r>
              <a:rPr lang="en-US" sz="2000" b="1" dirty="0" smtClean="0">
                <a:solidFill>
                  <a:srgbClr val="002060"/>
                </a:solidFill>
                <a:latin typeface="Soege UI"/>
              </a:rPr>
              <a:t>combination</a:t>
            </a: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:</a:t>
            </a:r>
          </a:p>
          <a:p>
            <a:pPr algn="l">
              <a:buClr>
                <a:srgbClr val="002060"/>
              </a:buClr>
            </a:pP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High </a:t>
            </a:r>
            <a:r>
              <a:rPr lang="en-US" sz="2000" dirty="0">
                <a:solidFill>
                  <a:srgbClr val="002060"/>
                </a:solidFill>
                <a:latin typeface="Soege UI"/>
              </a:rPr>
              <a:t>quality + large living area = premium </a:t>
            </a: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price.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u="sng" dirty="0" smtClean="0">
                <a:solidFill>
                  <a:srgbClr val="002060"/>
                </a:solidFill>
                <a:latin typeface="Soege UI"/>
              </a:rPr>
              <a:t>Insights</a:t>
            </a: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 :-</a:t>
            </a:r>
            <a:endParaRPr lang="en-US" sz="2000" dirty="0">
              <a:solidFill>
                <a:srgbClr val="002060"/>
              </a:solidFill>
              <a:latin typeface="Soege UI"/>
            </a:endParaRP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oege UI"/>
              </a:rPr>
              <a:t> </a:t>
            </a: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Houses </a:t>
            </a:r>
            <a:r>
              <a:rPr lang="en-US" sz="2000" dirty="0">
                <a:solidFill>
                  <a:srgbClr val="002060"/>
                </a:solidFill>
                <a:latin typeface="Soege UI"/>
              </a:rPr>
              <a:t>with high quality and large living area have the highest sale prices.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Larger ground </a:t>
            </a:r>
            <a:r>
              <a:rPr lang="en-US" sz="2000" dirty="0">
                <a:solidFill>
                  <a:srgbClr val="002060"/>
                </a:solidFill>
                <a:latin typeface="Soege UI"/>
              </a:rPr>
              <a:t>living area leads to higher prices</a:t>
            </a: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.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oege UI"/>
              </a:rPr>
              <a:t>Combined effect explains pricing better.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2060"/>
              </a:solidFill>
              <a:latin typeface="Soege UI"/>
            </a:endParaRPr>
          </a:p>
          <a:p>
            <a:pPr marL="800100" lvl="1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2060"/>
              </a:solidFill>
              <a:latin typeface="Soege UI"/>
            </a:endParaRPr>
          </a:p>
          <a:p>
            <a:pPr lvl="1">
              <a:buClr>
                <a:srgbClr val="002060"/>
              </a:buClr>
            </a:pPr>
            <a:endParaRPr lang="en-US" sz="2000" dirty="0">
              <a:solidFill>
                <a:srgbClr val="002060"/>
              </a:solidFill>
              <a:latin typeface="Soege UI"/>
            </a:endParaRPr>
          </a:p>
        </p:txBody>
      </p:sp>
    </p:spTree>
    <p:extLst>
      <p:ext uri="{BB962C8B-B14F-4D97-AF65-F5344CB8AC3E}">
        <p14:creationId xmlns:p14="http://schemas.microsoft.com/office/powerpoint/2010/main" val="3263721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320" y="1554480"/>
            <a:ext cx="5126001" cy="5009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54450" y="1841863"/>
            <a:ext cx="4863469" cy="4132036"/>
          </a:xfrm>
        </p:spPr>
        <p:txBody>
          <a:bodyPr>
            <a:noAutofit/>
          </a:bodyPr>
          <a:lstStyle/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u="sng" dirty="0" smtClean="0">
                <a:solidFill>
                  <a:srgbClr val="002060"/>
                </a:solidFill>
                <a:latin typeface="Soege UI"/>
                <a:cs typeface="Segoe UI" panose="020B0502040204020203" pitchFamily="34" charset="0"/>
              </a:rPr>
              <a:t>Insights:-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Dense </a:t>
            </a:r>
            <a:r>
              <a:rPr lang="en-US" sz="2000" dirty="0">
                <a:solidFill>
                  <a:srgbClr val="002060"/>
                </a:solidFill>
                <a:latin typeface="Soege UI"/>
              </a:rPr>
              <a:t>regions show most common combinations of living area and price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Higher </a:t>
            </a:r>
            <a:r>
              <a:rPr lang="en-US" sz="2000" dirty="0">
                <a:solidFill>
                  <a:srgbClr val="002060"/>
                </a:solidFill>
                <a:latin typeface="Soege UI"/>
              </a:rPr>
              <a:t>density shifts upward for better quality houses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Indicates </a:t>
            </a:r>
            <a:r>
              <a:rPr lang="en-US" sz="2000" dirty="0">
                <a:solidFill>
                  <a:srgbClr val="002060"/>
                </a:solidFill>
                <a:latin typeface="Soege UI"/>
              </a:rPr>
              <a:t>a strong positive relationship between living area and sale price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High-quality </a:t>
            </a:r>
            <a:r>
              <a:rPr lang="en-US" sz="2000" dirty="0">
                <a:solidFill>
                  <a:srgbClr val="002060"/>
                </a:solidFill>
                <a:latin typeface="Soege UI"/>
              </a:rPr>
              <a:t>homes cluster at higher price ranges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2060"/>
              </a:solidFill>
              <a:latin typeface="Soege UI"/>
              <a:cs typeface="Segoe UI" panose="020B0502040204020203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57650" y="422635"/>
            <a:ext cx="7781848" cy="951141"/>
          </a:xfrm>
        </p:spPr>
        <p:txBody>
          <a:bodyPr>
            <a:normAutofit/>
          </a:bodyPr>
          <a:lstStyle/>
          <a:p>
            <a:r>
              <a:rPr lang="en-US" sz="3600" u="sng" dirty="0">
                <a:solidFill>
                  <a:srgbClr val="002060"/>
                </a:solidFill>
                <a:latin typeface="Soege UI"/>
              </a:rPr>
              <a:t>Joint Plot :- GrLivArea vs SalePrice</a:t>
            </a:r>
          </a:p>
        </p:txBody>
      </p:sp>
    </p:spTree>
    <p:extLst>
      <p:ext uri="{BB962C8B-B14F-4D97-AF65-F5344CB8AC3E}">
        <p14:creationId xmlns:p14="http://schemas.microsoft.com/office/powerpoint/2010/main" val="4286760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4038" y="275770"/>
            <a:ext cx="8256362" cy="812801"/>
          </a:xfrm>
        </p:spPr>
        <p:txBody>
          <a:bodyPr>
            <a:noAutofit/>
          </a:bodyPr>
          <a:lstStyle/>
          <a:p>
            <a:r>
              <a:rPr lang="en-US" sz="3200" u="sng" dirty="0">
                <a:solidFill>
                  <a:srgbClr val="002060"/>
                </a:solidFill>
                <a:latin typeface="Soege UI"/>
              </a:rPr>
              <a:t>Neighborhood vs Average Price (Ranking):-</a:t>
            </a: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27" b="-427"/>
          <a:stretch/>
        </p:blipFill>
        <p:spPr>
          <a:xfrm>
            <a:off x="6047572" y="1553028"/>
            <a:ext cx="5955742" cy="43833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8267" y="1436915"/>
            <a:ext cx="5426158" cy="4978400"/>
          </a:xfrm>
        </p:spPr>
        <p:txBody>
          <a:bodyPr>
            <a:noAutofit/>
          </a:bodyPr>
          <a:lstStyle/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u="sng" dirty="0" smtClean="0">
                <a:solidFill>
                  <a:srgbClr val="002060"/>
                </a:solidFill>
                <a:latin typeface="Soege UI"/>
              </a:rPr>
              <a:t>Insights: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Location </a:t>
            </a:r>
            <a:r>
              <a:rPr lang="en-US" sz="2000" dirty="0">
                <a:solidFill>
                  <a:srgbClr val="002060"/>
                </a:solidFill>
                <a:latin typeface="Soege UI"/>
              </a:rPr>
              <a:t>plays a critical role in pricing</a:t>
            </a: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.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  <a:latin typeface="Soege UI"/>
              </a:rPr>
              <a:t>Helps in investment &amp; acquisition decisions.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A </a:t>
            </a:r>
            <a:r>
              <a:rPr lang="en-US" sz="2000" dirty="0">
                <a:solidFill>
                  <a:srgbClr val="002060"/>
                </a:solidFill>
                <a:latin typeface="Soege UI"/>
              </a:rPr>
              <a:t>few neighborhoods stand out with significantly higher prices, suggesting premium demand.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This </a:t>
            </a:r>
            <a:r>
              <a:rPr lang="en-US" sz="2000" dirty="0">
                <a:solidFill>
                  <a:srgbClr val="002060"/>
                </a:solidFill>
                <a:latin typeface="Soege UI"/>
              </a:rPr>
              <a:t>bar chart shows the top 10 neighborhoods with the highest average sale prices.</a:t>
            </a:r>
          </a:p>
          <a:p>
            <a:pPr algn="l">
              <a:buClr>
                <a:srgbClr val="002060"/>
              </a:buClr>
            </a:pPr>
            <a:r>
              <a:rPr lang="en-US" sz="2000" dirty="0">
                <a:solidFill>
                  <a:srgbClr val="002060"/>
                </a:solidFill>
                <a:latin typeface="Soege UI"/>
              </a:rPr>
              <a:t/>
            </a:r>
            <a:br>
              <a:rPr lang="en-US" sz="2000" dirty="0">
                <a:solidFill>
                  <a:srgbClr val="002060"/>
                </a:solidFill>
                <a:latin typeface="Soege UI"/>
              </a:rPr>
            </a:br>
            <a:endParaRPr lang="en-US" sz="2000" dirty="0">
              <a:solidFill>
                <a:srgbClr val="002060"/>
              </a:solidFill>
              <a:latin typeface="Soege UI"/>
            </a:endParaRP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2060"/>
              </a:solidFill>
              <a:latin typeface="Soege UI"/>
            </a:endParaRPr>
          </a:p>
        </p:txBody>
      </p:sp>
    </p:spTree>
    <p:extLst>
      <p:ext uri="{BB962C8B-B14F-4D97-AF65-F5344CB8AC3E}">
        <p14:creationId xmlns:p14="http://schemas.microsoft.com/office/powerpoint/2010/main" val="3044211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9843" y="0"/>
            <a:ext cx="7974785" cy="1371600"/>
          </a:xfrm>
        </p:spPr>
        <p:txBody>
          <a:bodyPr>
            <a:normAutofit/>
          </a:bodyPr>
          <a:lstStyle/>
          <a:p>
            <a:r>
              <a:rPr lang="en-US" sz="3600" u="sng" dirty="0" smtClean="0">
                <a:solidFill>
                  <a:srgbClr val="002060"/>
                </a:solidFill>
                <a:latin typeface="Soege UI"/>
              </a:rPr>
              <a:t>Correlation Heatmap of Numerical Features:-</a:t>
            </a:r>
            <a:endParaRPr lang="en-US" sz="3600" u="sng" dirty="0">
              <a:solidFill>
                <a:srgbClr val="002060"/>
              </a:solidFill>
              <a:latin typeface="Soege UI"/>
            </a:endParaRPr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61" b="-961"/>
          <a:stretch/>
        </p:blipFill>
        <p:spPr>
          <a:xfrm>
            <a:off x="6348549" y="1371600"/>
            <a:ext cx="5726159" cy="44936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3902" y="2625634"/>
            <a:ext cx="5440590" cy="4219303"/>
          </a:xfrm>
        </p:spPr>
        <p:txBody>
          <a:bodyPr>
            <a:noAutofit/>
          </a:bodyPr>
          <a:lstStyle/>
          <a:p>
            <a:pPr algn="l">
              <a:buClr>
                <a:srgbClr val="002060"/>
              </a:buClr>
            </a:pPr>
            <a:r>
              <a:rPr lang="en-US" sz="2000" u="sng" dirty="0" smtClean="0">
                <a:solidFill>
                  <a:srgbClr val="002060"/>
                </a:solidFill>
                <a:latin typeface="Soege UI"/>
              </a:rPr>
              <a:t>  Insights:-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Sale Price </a:t>
            </a:r>
            <a:r>
              <a:rPr lang="en-US" sz="2000" dirty="0">
                <a:solidFill>
                  <a:srgbClr val="002060"/>
                </a:solidFill>
                <a:latin typeface="Soege UI"/>
              </a:rPr>
              <a:t>is strongly correlated with:</a:t>
            </a:r>
          </a:p>
          <a:p>
            <a:pPr algn="l">
              <a:buClr>
                <a:srgbClr val="002060"/>
              </a:buClr>
            </a:pP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     1.Overall </a:t>
            </a:r>
            <a:r>
              <a:rPr lang="en-US" sz="2000" dirty="0">
                <a:solidFill>
                  <a:srgbClr val="002060"/>
                </a:solidFill>
                <a:latin typeface="Soege UI"/>
              </a:rPr>
              <a:t>Quality</a:t>
            </a:r>
          </a:p>
          <a:p>
            <a:pPr algn="l">
              <a:buClr>
                <a:srgbClr val="002060"/>
              </a:buClr>
            </a:pP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     2.Living </a:t>
            </a:r>
            <a:r>
              <a:rPr lang="en-US" sz="2000" dirty="0">
                <a:solidFill>
                  <a:srgbClr val="002060"/>
                </a:solidFill>
                <a:latin typeface="Soege UI"/>
              </a:rPr>
              <a:t>Area</a:t>
            </a:r>
          </a:p>
          <a:p>
            <a:pPr algn="l">
              <a:buClr>
                <a:srgbClr val="002060"/>
              </a:buClr>
            </a:pP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     3.Garage Area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Pool Area </a:t>
            </a:r>
            <a:r>
              <a:rPr lang="en-US" sz="2000" dirty="0">
                <a:solidFill>
                  <a:srgbClr val="002060"/>
                </a:solidFill>
                <a:latin typeface="Soege UI"/>
              </a:rPr>
              <a:t>shows weak correlation due to limited data.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Most numerical </a:t>
            </a:r>
            <a:r>
              <a:rPr lang="en-US" sz="2000" dirty="0">
                <a:solidFill>
                  <a:srgbClr val="002060"/>
                </a:solidFill>
                <a:latin typeface="Soege UI"/>
              </a:rPr>
              <a:t>features shows low to moderate </a:t>
            </a: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correlation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House </a:t>
            </a:r>
            <a:r>
              <a:rPr lang="en-US" sz="2000" dirty="0">
                <a:solidFill>
                  <a:srgbClr val="002060"/>
                </a:solidFill>
                <a:latin typeface="Soege UI"/>
              </a:rPr>
              <a:t>price is most </a:t>
            </a: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strongly </a:t>
            </a:r>
            <a:r>
              <a:rPr lang="en-US" sz="2000" dirty="0">
                <a:solidFill>
                  <a:srgbClr val="002060"/>
                </a:solidFill>
                <a:latin typeface="Soege UI"/>
              </a:rPr>
              <a:t>influenced </a:t>
            </a:r>
            <a:r>
              <a:rPr lang="en-US" sz="2000" dirty="0" smtClean="0">
                <a:solidFill>
                  <a:srgbClr val="002060"/>
                </a:solidFill>
                <a:latin typeface="Soege UI"/>
              </a:rPr>
              <a:t>by quality, living </a:t>
            </a:r>
            <a:r>
              <a:rPr lang="en-US" sz="2000" dirty="0">
                <a:solidFill>
                  <a:srgbClr val="002060"/>
                </a:solidFill>
                <a:latin typeface="Soege UI"/>
              </a:rPr>
              <a:t>area, and garage related features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2060"/>
              </a:solidFill>
              <a:latin typeface="Soege UI"/>
            </a:endParaRPr>
          </a:p>
          <a:p>
            <a:pPr algn="l">
              <a:buClr>
                <a:srgbClr val="002060"/>
              </a:buClr>
            </a:pPr>
            <a:endParaRPr lang="en-US" sz="2000" dirty="0" smtClean="0">
              <a:solidFill>
                <a:srgbClr val="002060"/>
              </a:solidFill>
              <a:latin typeface="Soege UI"/>
            </a:endParaRPr>
          </a:p>
        </p:txBody>
      </p:sp>
    </p:spTree>
    <p:extLst>
      <p:ext uri="{BB962C8B-B14F-4D97-AF65-F5344CB8AC3E}">
        <p14:creationId xmlns:p14="http://schemas.microsoft.com/office/powerpoint/2010/main" val="104314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271" y="404948"/>
            <a:ext cx="8654054" cy="765265"/>
          </a:xfrm>
        </p:spPr>
        <p:txBody>
          <a:bodyPr>
            <a:noAutofit/>
          </a:bodyPr>
          <a:lstStyle/>
          <a:p>
            <a:r>
              <a:rPr lang="en-US" sz="3600" u="sng" dirty="0" smtClean="0">
                <a:solidFill>
                  <a:srgbClr val="002060"/>
                </a:solidFill>
                <a:latin typeface="Soege UI"/>
              </a:rPr>
              <a:t>Correlation Heatmap(Key Features):-</a:t>
            </a:r>
            <a:endParaRPr lang="en-US" sz="3600" u="sng" dirty="0">
              <a:solidFill>
                <a:srgbClr val="002060"/>
              </a:solidFill>
              <a:latin typeface="Soege UI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16" b="-1316"/>
          <a:stretch/>
        </p:blipFill>
        <p:spPr>
          <a:xfrm>
            <a:off x="6380148" y="1588223"/>
            <a:ext cx="5811852" cy="44413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0745" y="1901733"/>
            <a:ext cx="5269403" cy="4303126"/>
          </a:xfrm>
        </p:spPr>
        <p:txBody>
          <a:bodyPr>
            <a:normAutofit lnSpcReduction="10000"/>
          </a:bodyPr>
          <a:lstStyle/>
          <a:p>
            <a:pPr algn="l">
              <a:buClr>
                <a:srgbClr val="002060"/>
              </a:buClr>
            </a:pPr>
            <a:endParaRPr lang="en-US" dirty="0" smtClean="0">
              <a:solidFill>
                <a:srgbClr val="002060"/>
              </a:solidFill>
              <a:latin typeface="Soege UI"/>
            </a:endParaRPr>
          </a:p>
          <a:p>
            <a:pPr algn="l">
              <a:buClr>
                <a:srgbClr val="002060"/>
              </a:buClr>
            </a:pPr>
            <a:r>
              <a:rPr lang="en-US" u="sng" dirty="0" smtClean="0">
                <a:solidFill>
                  <a:srgbClr val="002060"/>
                </a:solidFill>
                <a:latin typeface="Soege UI"/>
              </a:rPr>
              <a:t>Insights:-</a:t>
            </a:r>
            <a:endParaRPr lang="en-US" u="sng" dirty="0">
              <a:solidFill>
                <a:srgbClr val="002060"/>
              </a:solidFill>
              <a:latin typeface="Soege UI"/>
            </a:endParaRPr>
          </a:p>
          <a:p>
            <a:pPr marL="285750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Soege UI"/>
              </a:rPr>
              <a:t> Sale Price </a:t>
            </a:r>
            <a:r>
              <a:rPr lang="en-US" dirty="0">
                <a:solidFill>
                  <a:srgbClr val="002060"/>
                </a:solidFill>
                <a:latin typeface="Soege UI"/>
              </a:rPr>
              <a:t>has strong correlation with OverallQual and </a:t>
            </a:r>
            <a:r>
              <a:rPr lang="en-US" dirty="0" smtClean="0">
                <a:solidFill>
                  <a:srgbClr val="002060"/>
                </a:solidFill>
                <a:latin typeface="Soege UI"/>
              </a:rPr>
              <a:t>GrLivArea.</a:t>
            </a:r>
          </a:p>
          <a:p>
            <a:pPr marL="285750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Soege UI"/>
              </a:rPr>
              <a:t> GarageCars </a:t>
            </a:r>
            <a:r>
              <a:rPr lang="en-US" dirty="0">
                <a:solidFill>
                  <a:srgbClr val="002060"/>
                </a:solidFill>
                <a:latin typeface="Soege UI"/>
              </a:rPr>
              <a:t>and </a:t>
            </a:r>
            <a:r>
              <a:rPr lang="en-US" dirty="0" smtClean="0">
                <a:solidFill>
                  <a:srgbClr val="002060"/>
                </a:solidFill>
                <a:latin typeface="Soege UI"/>
              </a:rPr>
              <a:t>GarageArea </a:t>
            </a:r>
            <a:r>
              <a:rPr lang="en-US" dirty="0">
                <a:solidFill>
                  <a:srgbClr val="002060"/>
                </a:solidFill>
                <a:latin typeface="Soege UI"/>
              </a:rPr>
              <a:t>also positively impact </a:t>
            </a:r>
            <a:r>
              <a:rPr lang="en-US" dirty="0" smtClean="0">
                <a:solidFill>
                  <a:srgbClr val="002060"/>
                </a:solidFill>
                <a:latin typeface="Soege UI"/>
              </a:rPr>
              <a:t>price.</a:t>
            </a:r>
            <a:endParaRPr lang="en-US" dirty="0">
              <a:solidFill>
                <a:srgbClr val="002060"/>
              </a:solidFill>
              <a:latin typeface="Soege UI"/>
            </a:endParaRPr>
          </a:p>
          <a:p>
            <a:pPr marL="285750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Soege UI"/>
              </a:rPr>
              <a:t> Some </a:t>
            </a:r>
            <a:r>
              <a:rPr lang="en-US" dirty="0">
                <a:solidFill>
                  <a:srgbClr val="002060"/>
                </a:solidFill>
                <a:latin typeface="Soege UI"/>
              </a:rPr>
              <a:t>features show low or no correlation, meaning minimal impact on </a:t>
            </a:r>
            <a:r>
              <a:rPr lang="en-US" dirty="0" smtClean="0">
                <a:solidFill>
                  <a:srgbClr val="002060"/>
                </a:solidFill>
                <a:latin typeface="Soege UI"/>
              </a:rPr>
              <a:t>price.</a:t>
            </a:r>
            <a:endParaRPr lang="en-US" dirty="0">
              <a:solidFill>
                <a:srgbClr val="002060"/>
              </a:solidFill>
              <a:latin typeface="Soege UI"/>
            </a:endParaRPr>
          </a:p>
          <a:p>
            <a:pPr marL="285750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Soege UI"/>
              </a:rPr>
              <a:t> Overall </a:t>
            </a:r>
            <a:r>
              <a:rPr lang="en-US" dirty="0">
                <a:solidFill>
                  <a:srgbClr val="002060"/>
                </a:solidFill>
                <a:latin typeface="Soege UI"/>
              </a:rPr>
              <a:t>quality, living area, and garage features are the strongest drivers of house prices</a:t>
            </a:r>
            <a:r>
              <a:rPr lang="en-US" dirty="0" smtClean="0">
                <a:solidFill>
                  <a:srgbClr val="002060"/>
                </a:solidFill>
                <a:latin typeface="Soege UI"/>
              </a:rPr>
              <a:t>.</a:t>
            </a:r>
          </a:p>
          <a:p>
            <a:pPr marL="285750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Soege UI"/>
              </a:rPr>
              <a:t>Some features show low or no correlation, meaning minimal impact on </a:t>
            </a:r>
            <a:r>
              <a:rPr lang="en-US" dirty="0" smtClean="0">
                <a:solidFill>
                  <a:srgbClr val="002060"/>
                </a:solidFill>
                <a:latin typeface="Soege UI"/>
              </a:rPr>
              <a:t>price.</a:t>
            </a:r>
            <a:endParaRPr lang="en-US" dirty="0">
              <a:solidFill>
                <a:srgbClr val="002060"/>
              </a:solidFill>
              <a:latin typeface="Soege UI"/>
            </a:endParaRPr>
          </a:p>
          <a:p>
            <a:pPr algn="l">
              <a:buClr>
                <a:srgbClr val="002060"/>
              </a:buClr>
            </a:pPr>
            <a:endParaRPr lang="en-US" dirty="0">
              <a:solidFill>
                <a:srgbClr val="002060"/>
              </a:solidFill>
              <a:latin typeface="Soege UI"/>
            </a:endParaRPr>
          </a:p>
          <a:p>
            <a:pPr marL="285750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Soege UI"/>
            </a:endParaRPr>
          </a:p>
          <a:p>
            <a:pPr marL="285750" indent="-285750" algn="l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Soege UI"/>
            </a:endParaRPr>
          </a:p>
        </p:txBody>
      </p:sp>
    </p:spTree>
    <p:extLst>
      <p:ext uri="{BB962C8B-B14F-4D97-AF65-F5344CB8AC3E}">
        <p14:creationId xmlns:p14="http://schemas.microsoft.com/office/powerpoint/2010/main" val="3629839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7251" y="885371"/>
            <a:ext cx="8930747" cy="844010"/>
          </a:xfrm>
        </p:spPr>
        <p:txBody>
          <a:bodyPr/>
          <a:lstStyle/>
          <a:p>
            <a:pPr algn="l"/>
            <a:r>
              <a:rPr lang="en-US" u="sng" dirty="0">
                <a:solidFill>
                  <a:srgbClr val="002060"/>
                </a:solidFill>
                <a:latin typeface="Soege UI"/>
              </a:rPr>
              <a:t>Steps You Have Been </a:t>
            </a:r>
            <a:r>
              <a:rPr lang="en-US" u="sng" dirty="0" smtClean="0">
                <a:solidFill>
                  <a:srgbClr val="002060"/>
                </a:solidFill>
                <a:latin typeface="Soege UI"/>
              </a:rPr>
              <a:t>Through:-</a:t>
            </a:r>
            <a:endParaRPr lang="en-US" u="sng" dirty="0">
              <a:solidFill>
                <a:srgbClr val="002060"/>
              </a:solidFill>
              <a:latin typeface="Soege UI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72778" y="2108582"/>
            <a:ext cx="353013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2060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02060"/>
                </a:solidFill>
                <a:effectLst/>
                <a:latin typeface="Soege UI"/>
              </a:rPr>
              <a:t>Problem Understanding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2060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02060"/>
                </a:solidFill>
                <a:effectLst/>
                <a:latin typeface="Soege UI"/>
              </a:rPr>
              <a:t>Data Collection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2060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02060"/>
                </a:solidFill>
                <a:effectLst/>
                <a:latin typeface="Soege UI"/>
              </a:rPr>
              <a:t>Data Cleaning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2060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02060"/>
                </a:solidFill>
                <a:effectLst/>
                <a:latin typeface="Soege UI"/>
              </a:rPr>
              <a:t>Data Exploration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2060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02060"/>
                </a:solidFill>
                <a:effectLst/>
                <a:latin typeface="Soege UI"/>
              </a:rPr>
              <a:t>Univariate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2060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02060"/>
                </a:solidFill>
                <a:effectLst/>
                <a:latin typeface="Soege UI"/>
              </a:rPr>
              <a:t>Bivariate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2060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02060"/>
                </a:solidFill>
                <a:effectLst/>
                <a:latin typeface="Soege UI"/>
              </a:rPr>
              <a:t>Multivariate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2060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02060"/>
                </a:solidFill>
                <a:effectLst/>
                <a:latin typeface="Soege UI"/>
              </a:rPr>
              <a:t>Correlation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2060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02060"/>
                </a:solidFill>
                <a:effectLst/>
                <a:latin typeface="Soege UI"/>
              </a:rPr>
              <a:t>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2060"/>
              </a:buClr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rgbClr val="002060"/>
                </a:solidFill>
                <a:effectLst/>
                <a:latin typeface="Soege UI"/>
              </a:rPr>
              <a:t>Insight Generation</a:t>
            </a:r>
          </a:p>
        </p:txBody>
      </p:sp>
    </p:spTree>
    <p:extLst>
      <p:ext uri="{BB962C8B-B14F-4D97-AF65-F5344CB8AC3E}">
        <p14:creationId xmlns:p14="http://schemas.microsoft.com/office/powerpoint/2010/main" val="1697599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5443" y="862148"/>
            <a:ext cx="6885231" cy="754021"/>
          </a:xfrm>
        </p:spPr>
        <p:txBody>
          <a:bodyPr>
            <a:normAutofit fontScale="90000"/>
          </a:bodyPr>
          <a:lstStyle/>
          <a:p>
            <a:pPr algn="l"/>
            <a:r>
              <a:rPr lang="en-US" u="sng" dirty="0">
                <a:solidFill>
                  <a:srgbClr val="002060"/>
                </a:solidFill>
                <a:latin typeface="Soege UI"/>
              </a:rPr>
              <a:t>Key </a:t>
            </a:r>
            <a:r>
              <a:rPr lang="en-US" u="sng" dirty="0" smtClean="0">
                <a:solidFill>
                  <a:srgbClr val="002060"/>
                </a:solidFill>
                <a:latin typeface="Soege UI"/>
              </a:rPr>
              <a:t>Insights From the Dataset:-</a:t>
            </a:r>
            <a:endParaRPr lang="en-US" u="sng" dirty="0">
              <a:solidFill>
                <a:srgbClr val="002060"/>
              </a:solidFill>
              <a:latin typeface="Soege UI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6240" y="2403565"/>
            <a:ext cx="7727860" cy="2202250"/>
          </a:xfrm>
        </p:spPr>
        <p:txBody>
          <a:bodyPr>
            <a:noAutofit/>
          </a:bodyPr>
          <a:lstStyle/>
          <a:p>
            <a:pPr algn="l">
              <a:buClr>
                <a:srgbClr val="002060"/>
              </a:buClr>
            </a:pPr>
            <a:r>
              <a:rPr lang="en-US" sz="2400" u="sng" dirty="0" smtClean="0">
                <a:solidFill>
                  <a:srgbClr val="002060"/>
                </a:solidFill>
                <a:latin typeface="Soege UI"/>
              </a:rPr>
              <a:t>Insights</a:t>
            </a:r>
            <a:r>
              <a:rPr lang="en-US" sz="2400" dirty="0" smtClean="0">
                <a:solidFill>
                  <a:srgbClr val="002060"/>
                </a:solidFill>
                <a:latin typeface="Soege UI"/>
              </a:rPr>
              <a:t>:-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02060"/>
                </a:solidFill>
                <a:latin typeface="Soege UI"/>
              </a:rPr>
              <a:t>Houses </a:t>
            </a:r>
            <a:r>
              <a:rPr lang="en-US" sz="2400" dirty="0">
                <a:solidFill>
                  <a:srgbClr val="002060"/>
                </a:solidFill>
                <a:latin typeface="Soege UI"/>
              </a:rPr>
              <a:t>with larger garage areas tend to have higher prices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Soege UI"/>
              </a:rPr>
              <a:t>Pool area has a positive impact on house prices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Soege UI"/>
              </a:rPr>
              <a:t>Outliers significantly influence price distribution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Soege UI"/>
              </a:rPr>
              <a:t>Location and size play a major role in pricing</a:t>
            </a:r>
          </a:p>
        </p:txBody>
      </p:sp>
    </p:spTree>
    <p:extLst>
      <p:ext uri="{BB962C8B-B14F-4D97-AF65-F5344CB8AC3E}">
        <p14:creationId xmlns:p14="http://schemas.microsoft.com/office/powerpoint/2010/main" val="242822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5443" y="862148"/>
            <a:ext cx="6885231" cy="754021"/>
          </a:xfrm>
        </p:spPr>
        <p:txBody>
          <a:bodyPr>
            <a:normAutofit/>
          </a:bodyPr>
          <a:lstStyle/>
          <a:p>
            <a:pPr algn="l"/>
            <a:r>
              <a:rPr lang="en-US" u="sng" dirty="0" smtClean="0">
                <a:solidFill>
                  <a:srgbClr val="002060"/>
                </a:solidFill>
                <a:latin typeface="Soege UI"/>
              </a:rPr>
              <a:t>Conclusion:-</a:t>
            </a:r>
            <a:endParaRPr lang="en-US" u="sng" dirty="0">
              <a:solidFill>
                <a:srgbClr val="002060"/>
              </a:solidFill>
              <a:latin typeface="Soege UI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6240" y="2403565"/>
            <a:ext cx="7727860" cy="2202250"/>
          </a:xfrm>
        </p:spPr>
        <p:txBody>
          <a:bodyPr>
            <a:noAutofit/>
          </a:bodyPr>
          <a:lstStyle/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Soege UI"/>
              </a:rPr>
              <a:t>EDA helped understand data patterns and relationships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Soege UI"/>
              </a:rPr>
              <a:t>Data visualization improved insight generation</a:t>
            </a:r>
          </a:p>
          <a:p>
            <a:pPr marL="342900" indent="-342900" algn="l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Soege UI"/>
              </a:rPr>
              <a:t>Clean data leads to more accurate analysis</a:t>
            </a:r>
          </a:p>
        </p:txBody>
      </p:sp>
    </p:spTree>
    <p:extLst>
      <p:ext uri="{BB962C8B-B14F-4D97-AF65-F5344CB8AC3E}">
        <p14:creationId xmlns:p14="http://schemas.microsoft.com/office/powerpoint/2010/main" val="221214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83314" y="1708093"/>
            <a:ext cx="4191308" cy="1630194"/>
          </a:xfrm>
        </p:spPr>
        <p:txBody>
          <a:bodyPr>
            <a:normAutofit fontScale="90000"/>
          </a:bodyPr>
          <a:lstStyle/>
          <a:p>
            <a:pPr algn="ctr"/>
            <a:r>
              <a:rPr lang="en-US" u="sng" dirty="0" smtClean="0">
                <a:solidFill>
                  <a:srgbClr val="002060"/>
                </a:solidFill>
                <a:latin typeface="Soege UI"/>
              </a:rPr>
              <a:t>Thank</a:t>
            </a:r>
            <a:r>
              <a:rPr lang="en-US" dirty="0" smtClean="0">
                <a:solidFill>
                  <a:srgbClr val="002060"/>
                </a:solidFill>
                <a:latin typeface="Soege UI"/>
              </a:rPr>
              <a:t> </a:t>
            </a:r>
            <a:r>
              <a:rPr lang="en-US" u="sng" dirty="0" smtClean="0">
                <a:solidFill>
                  <a:srgbClr val="002060"/>
                </a:solidFill>
                <a:latin typeface="Soege UI"/>
              </a:rPr>
              <a:t>you</a:t>
            </a:r>
            <a:r>
              <a:rPr lang="en-US" dirty="0" smtClean="0">
                <a:solidFill>
                  <a:srgbClr val="002060"/>
                </a:solidFill>
                <a:latin typeface="Soege UI"/>
              </a:rPr>
              <a:t>!</a:t>
            </a:r>
            <a:r>
              <a:rPr lang="en-US" dirty="0" smtClean="0">
                <a:solidFill>
                  <a:srgbClr val="002060"/>
                </a:solidFill>
                <a:latin typeface="Soege UI"/>
              </a:rPr>
              <a:t/>
            </a:r>
            <a:br>
              <a:rPr lang="en-US" dirty="0" smtClean="0">
                <a:solidFill>
                  <a:srgbClr val="002060"/>
                </a:solidFill>
                <a:latin typeface="Soege UI"/>
              </a:rPr>
            </a:br>
            <a:endParaRPr lang="en-US" dirty="0">
              <a:solidFill>
                <a:srgbClr val="002060"/>
              </a:solidFill>
              <a:latin typeface="Soege UI"/>
            </a:endParaRPr>
          </a:p>
        </p:txBody>
      </p:sp>
    </p:spTree>
    <p:extLst>
      <p:ext uri="{BB962C8B-B14F-4D97-AF65-F5344CB8AC3E}">
        <p14:creationId xmlns:p14="http://schemas.microsoft.com/office/powerpoint/2010/main" val="2060144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8325</TotalTime>
  <Words>611</Words>
  <Application>Microsoft Office PowerPoint</Application>
  <PresentationFormat>Widescreen</PresentationFormat>
  <Paragraphs>104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Corbel</vt:lpstr>
      <vt:lpstr>Segoe UI</vt:lpstr>
      <vt:lpstr>Soege UI</vt:lpstr>
      <vt:lpstr>Parallax</vt:lpstr>
      <vt:lpstr>Exploratory Data Analysis (EDA) for Real Estate Pricing</vt:lpstr>
      <vt:lpstr>Introduction -</vt:lpstr>
      <vt:lpstr>Challenges Faced During the Project -</vt:lpstr>
      <vt:lpstr>How I Overcame Them:-</vt:lpstr>
      <vt:lpstr>Univariate Analysis :-</vt:lpstr>
      <vt:lpstr>Univariate Analysis :-</vt:lpstr>
      <vt:lpstr>Bivariate Analysis :-</vt:lpstr>
      <vt:lpstr>Multivariate Analysis :- </vt:lpstr>
      <vt:lpstr>Joint Plot :- GrLivArea vs SalePrice</vt:lpstr>
      <vt:lpstr>Neighborhood vs Average Price (Ranking):-</vt:lpstr>
      <vt:lpstr>Correlation Heatmap of Numerical Features:-</vt:lpstr>
      <vt:lpstr>Correlation Heatmap(Key Features):-</vt:lpstr>
      <vt:lpstr>Steps You Have Been Through:-</vt:lpstr>
      <vt:lpstr>Key Insights From the Dataset:-</vt:lpstr>
      <vt:lpstr>Conclusion:-</vt:lpstr>
      <vt:lpstr>Thank you!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75</cp:revision>
  <dcterms:created xsi:type="dcterms:W3CDTF">2026-01-13T05:37:11Z</dcterms:created>
  <dcterms:modified xsi:type="dcterms:W3CDTF">2026-01-30T05:32:37Z</dcterms:modified>
</cp:coreProperties>
</file>